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 min.
Abertura: esta aula dá o embasamento teórico do roteiro 03-pratica-containers (github.com/fatec-cd/03-pratica-containers). A ideia é que, ao executar cada comando no laboratório, o aluno saiba QUAL mecanismo está sendo acionado. Ao longo dos slides, o selo laranja 'LAB · Passo N' indica em qual etapa do roteiro o conceito aparece.
Pergunta de aquecimento: 'Quem já instalou um software que funcionava na máquina de um colega e não na sua?'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 min.
Apresente a sequência: primeiro o PORQUÊ (bloco 1), depois o COMO (blocos 2 a 4), depois o USO (blocos 5 e 6) e, por fim, a ponte com o laboratório e com Big Data. O quiz final serve como checagem rápida antes da prática.
Duração total estimada: 80 a 90 minutos de exposição dialogada.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 min.
Leia os objetivos e relacione cada um ao roteiro: (1) é a seção 1 do README; (2) aprofunda o que o README resume como 'namespaces + cgroups'; (3) e (4) são o núcleo dos Passos 1 a 6; (5) é o que torna possível a Atividade Final (bind mount na porta 8081).
Reforce que o quiz final verifica exatamente estes cinco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Pergunta provocadora: 'Se eu enviar meu notebook .ipynb para vocês, ele vai rodar igual?' Colete respostas: versões de Python, bibliotecas, Java para o PySpark, variáveis de ambiente, sistema operacional…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Cenário típico de ciência de dados: o pipeline foi desenvolvido com uma combinação de versões e, no servidor, as versões são outras. O PySpark 3.5 exige Java 8/11/17 e Python ≥ 3.8; pandas 2.x mudou comportamentos; bibliotecas nativas (libs C) diferem entre distribuições.
Ponto-chave: o código não é o problema — o AMBIENTE é. O container resolve isso empacotando código + dependências + configuração em uma unidade padronizada.
Pergunta: 'Um requirements.txt resolve?' Resposta: resolve parte (pacotes Python), mas não o interpretador, o Java, as bibliotecas do sistema nem o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1979: chroot no Unix V7 isola a visão do sistema de arquivos. 2000: FreeBSD Jails adicionam isolamento de processos e rede. 2008: cgroups entram no kernel Linux (2.6.24) e surge o LXC. 2013: Docker populariza o conceito com imagens em camadas, Dockerfile e registry público. 2014: Kubernetes é anunciado pelo Google para orquestrar containers em escala. 2015: nasce a Open Container Initiative (OCI), que padroniza formato de imagem e runtime.
Mensagem: a tecnologia de base é do kernel Linux; o mérito do Docker foi a EXPERIÊNCIA de uso (empacotar, distribuir, executar).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Desenhe (ou aponte) as duas pilhas. Na VM, o hypervisor emula hardware e cada VM inicializa um SO convidado completo, com seu próprio kernel. No container, não há SO convidado: os processos de cada container rodam diretamente sobre o kernel do host, apenas isolados.
Consequências: container inicia em segundos (não há boot de kernel), ocupa MBs em vez de GBs e permite maior densidade. Em contrapartida, o isolamento é mais fraco (kernel compartilhado) e um container Linux precisa de um kernel Linux — no Windows/macOS, o Docker Desktop roda uma VM Linux leve por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Tabela reproduzida da seção 1 do roteiro. Destaque três linhas: tempo de inicialização (segundos × minutos), tamanho (MB × GB) e isolamento (namespaces + cgroups × SO próprio).
Chame atenção para o quadro à direita: na prática, VMs e containers se COMPLEMENTAM. O próprio GitHub Codespaces que usaremos no laboratório é uma VM na nuvem que executa um dev container — e, dentro dele, o Docker executa os containers do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Frase para escrever no quadro: 'Container não é uma mini-VM; é um processo com uma visão restrita do sistema e um orçamento de recursos'. Os três mecanismos a seguir explicam essa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Namespaces particionam recursos globais do kernel: cada processo enxerga apenas a 'fatia' do namespace em que está. Principais tipos: PID, NET, MNT, UTS, IPC e USER (há também cgroup e time).
Conexão com o Passo 4: ao executar 'docker exec -it webserver bash', o prompt mostra root@a3f5b8c7e9d1 — isso é o namespace UTS: o Docker define o hostname do container como o short ID. Dentro dele, 'ps' mostra poucos processos e o nginx aparece como PID 1 (namespace PID). Peça aos alunos que verifiquem isso durante o laboratório.
Observação: o 'root' dentro do container é, por padrão, o root do host com privilégios reduzidos; o namespace USER permite mapeá-lo para um usuário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Control groups (cgroups) contabilizam e limitam recursos de um grupo de processos: CPU, memória, I/O de disco e número de processos. Sem limites explícitos, um container pode consumir todo o host.
Exemplo do quadro: um job de ETL limitado a 2 GB de RAM e 1,5 CPU. 'docker stats' mostra o consumo em tempo real.
Ligação com Big Data: jobs de pandas/Spark que carregam dados demais estouram o limite de memória e são encerrados pelo kernel (OOM kill). O container aparece como Exited (137). Saber ler esse sintoma economiza horas de depuração.
O comando 'docker pause' do Passo 5 também usa cgroups (o controlador freezer congela os processos).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Uma imagem é uma pilha de camadas SOMENTE LEITURA. Ao criar um container, o Docker adiciona por cima uma camada GRAVÁVEL e o driver de armazenamento (overlay2, baseado em OverlayFS) apresenta tudo como um único sistema de arquivos.
Copy-on-write: quando o processo altera um arquivo que vem da imagem, o arquivo é copiado para a camada gravável e alterado lá; a imagem permanece intacta.
Consequências: (1) dez containers do mesmo nginx compartilham as mesmas camadas em disco; (2) iniciar um container não copia a imagem — é rápido; (3) ao remover o container, a camada gravável é descartada. É exatamente o que acontece com a página alterada no Passo 4 quando o container é removido no Passo 6.
Feche com a 'fórmula' na faixa inferior.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'Quando digitamos docker run, quem de fato cria o container?' A resposta envolve pelo menos quatro componentes.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O Docker segue arquitetura cliente-servidor. O CLI (docker) só envia requisições para a API REST do daemon, normalmente pelo socket /var/run/docker.sock. O daemon (dockerd) gerencia imagens, containers, volumes e redes e delega a execução ao containerd, que por sua vez usa o runc — o runtime de referência da OCI — para pedir ao kernel os namespaces e cgroups.
Conexão com os pré-requisitos do roteiro: 'docker version' mostra DUAS seções, Client e Server. Se aparecer 'Cannot connect to the Docker daemon', o cliente está ok mas o daemon não está no ar (tabela de troubleshooting).
O registry (Docker Hub) é de onde o daemon baixa imagens (pull) e para onde as envia (push).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A Open Container Initiative (Linux Foundation, 2015) define três especificações: Image (formato de imagem, manifesto e camadas), Runtime (como executar um container a partir de um bundle — o runc é a implementação de referência) e Distribution (API HTTP que os registries implementam para push/pull).
Por que importa para vocês: uma imagem construída com Docker roda em Podman, containerd, CRI-O e em clusters Kubernetes. Aprender Docker não é aprender um produto isolado, é aprender um padrão da indústria. Isso também explica a linha 'Portabilidade: alta (OCI)' da tabela comparativa.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Relembre a fórmula e diga que agora vamos olhar para o 'molde' a partir do qual os containers são criados: 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Analogia para quem programa: imagem é a CLASSE, container é o OBJETO. Uma imagem é um modelo imutável, composto de camadas; um container é uma instância dela, com uma camada gravável, um processo em execução, configuração de rede e um ciclo de vida.
A partir de uma mesma imagem nginx:1.27, o laboratório cria dois containers diferentes: 'webserver' (Passo 2, porta 8080) e 'meuweb' (Atividade Final, porta 8081).
No Passo 1, 'docker ps -a' mostra o container do hello-world parado (Exited), enquanto 'docker images' mostra a imagem que continua disponível — são objetos distintos. É por isso que, no Passo 6, removemos o container mas ainda não 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Quando escrevemos apenas 'nginx', o Docker completa para docker.io/library/nginx:latest. 'library' é o namespace das imagens oficiais do Docker Hub.
Tag é um rótulo MUTÁVEL: o mantenedor pode mover 'latest' ou mesmo '1.27' para uma nova compilação. Digest (sha256) é o hash do conteúdo — IMUTÁVEL. Para reprodutibilidade máxima (ex.: pipeline de produção auditável), fixe o digest.
Conexão com o Passo 2: o roteiro usa nginx:1.27 em vez de latest justamente por isso. Discuta: 'latest' NÃO significa 'a mais recente'; é apenas a tag padrão quando nenhuma é informada.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Percorra as cinco etapas, que correspondem à explicação do Passo 1 no roteiro. Enfatize:
• Na primeira execução aparece 'Unable to find image locally' seguido do download (pull) das camadas; na segunda, o pull não acontece — a imagem está em cache.
• O container termina sozinho porque o processo principal (um programa que imprime a mensagem) termina. Não é erro: o código de saída é 0.
• 'docker ps' não mostra o container (só lista os em execução); 'docker ps -a' mostra-o como Exited (0).
Pergunta: 'O que acontece se executarmos docker run hello-world de novo?' Resposta: um NOVO container é criado (novo ID, novo nome aleatório), sem novo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No laboratório usamos apenas imagens prontas, mas é importante saber como elas nascem. O Dockerfile é uma receita declarativa: cada instrução que altera o sistema de arquivos (COPY, RUN…) gera uma nova camada, e camadas inalteradas são reaproveitadas do cache no próximo build.
O exemplo empacota o mesmo site da Atividade Final DENTRO da imagem (em vez de montá-lo com bind mount). Pergunta para discussão: 'Qual abordagem é melhor para desenvolvimento? E para produção?' Resposta esperada: bind mount no desenvolvimento (edição instantânea); imagem com o conteúdo copiado em produção (artefato versionado e imutável).
Repare em 'daemon off;': faz o nginx rodar em primeiro plano como PID 1 — assunto do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Este bloco cobre diretamente a seção 3 do roteiro ('Conceitos essenciais') e os Passos 2 a 6. Sugira que os alunos acompanhem com o README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Todo container tem um ID de 64 caracteres hexadecimais, gerado na criação. 'docker ps' mostra os 12 primeiros (short ID) — e qualquer prefixo que seja único também funciona (ex.: docker stop a3f).
O nome é único por host: se não for informado com --name, o Docker gera um aleatório (adjetivo_sobrenome de cientista, como romantic_fermi). Como é único, reaproveitar um nome de container existente — mesmo parado — gera o erro 'Conflict. The container name "/webserver" is already in use', citado no aviso da seção 3 e na tabela de troubleshooting.
No Passo 3, os alunos usam --format e filtros (-f status=exited) para listar essas informações.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-i mantém a entrada padrão (STDIN) aberta; -t aloca um pseudo-terminal (TTY). Juntos (-it) conectam seu terminal ao processo do container: ideal para shells e depuração. Ao sair do bash com exit, o processo principal termina — e o container para.
-d (detached) executa em segundo plano e devolve o ID completo: é o modo dos serviços (NGINX, bancos, APIs). A saída do processo é consultada com docker logs.
docker exec não cria um container: inicia um SEGUNDO processo dentro dos mesmos namespaces de um container já em execução. Por isso, no Passo 4, sair do bash não derruba o webserver — o nginx (PID 1) continua rodando.
Dica Windows: no Git Bash pode ocorrer 'the input device is not a TTY' — use PowerShell ou winpty.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Esta é a regra que explica quase todos os 'mistérios' iniciais: o container não é uma máquina ligada; é um processo. Quando o processo principal (PID 1) termina, o container passa para Exited.
• hello-world: imprime e termina → Exited (0) em milissegundos.
• nginx: a imagem executa 'nginx -g daemon off;' — em primeiro plano — e fica Up.
• ubuntu sem -it: o bash não tem terminal, lê fim de arquivo e sai na hora. Por isso o roteiro usa 'sleep infinity' no exemplo 'ubuntu-server'.
Códigos de saída úteis: 0 = sucesso; 137 = 128+9 (SIGKILL, inclusive OOM kill); 143 = 128+15 (SIGTERM não tratado). Esta é a linha 'Container para imediatamente' da tabela de troubleshooting.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Percorra o diagrama com o Passo 5 do roteiro. 'docker run' equivale a 'docker create' + 'docker start'. Um container parado (Exited) NÃO foi apagado: mantém sua camada gravável, logs e configuração, e pode ser reiniciado com 'docker start' — por isso o Passo 5 funciona e a página modificada no Passo 4 continua lá após stop/start.
Paused congela os processos (cgroup freezer): não consomem CPU, mas continuam na memória.
Somente 'docker rm' apaga o container (e a camada gravável). 'docker rm -f' faz kill + rm em um container em execução. 'docker container prune' (Passo 6) remove todos os parados.
O estado 'Restarting' aparece quando há política de reinício (--restart) e o processo cai repetidamente.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'docker stop' envia SIGTERM ao PID 1 e aguarda um período de graça (10 s por padrão, ajustável com -t). Se o processo não terminar, envia SIGKILL. 'docker kill' envia SIGKILL imediatamente: o kernel encerra o processo sem que ele possa reagir.
Por que isso importa em Big Data: um banco de dados precisa gravar buffers e fechar o log de transações; um broker Kafka precisa concluir a replicação; um job que grava arquivos Parquet pode deixar arquivos parciais. Um kill pode corromper dados ou exigir recuperação demorada.
Regra prática: use stop; reserve kill para processos travados. No Passo 5, após o kill, o roteiro manda executar docker start para voltar a um estado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Duas perguntas guiam este bloco: (1) Como o navegador alcança o NGINX que está isolado em outro namespace de rede? (2) Para onde vão os dados quando o container é removido?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Cada container recebe um namespace de rede próprio e, na rede padrão (bridge), um IP privado (ex.: 172.17.0.2) na interface virtual docker0 do host. Esse IP não é acessível de fora. A flag -p cria uma regra de encaminhamento (NAT) do host para o container.
Leia sempre na ordem HOST:CONTAINER. Em -p 8080:80, o navegador acessa a porta 8080 do host e o tráfego chega à porta 80, onde o nginx escuta. Na Atividade Final, -p 8081:80 usa outra porta do HOST — dentro do container continua sendo 80. Dois containers podem usar a porta 80 interna, mas não a mesma porta do host ('port is already allocated').
No Codespaces há um salto extra: o GitHub encaminha uma URL https://&lt;codespace&gt;-8080.app.github.dev para a porta 8080 da VM. Por padrão a porta é privada (pede login); torná-la pública é o que a Evidência 3 exige.
Lembre: EXPOSE no Dockerfile apenas documenta; quem publica é o -p.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Reconstrua a sequência do laboratório: no Passo 4 o aluno altera index.html dentro do container (vai para a camada gravável). No Passo 5, stop/start preserva a alteração (o container não foi apagado). No Passo 6, docker rm -f apaga o container e sua camada gravável. Um novo container da mesma imagem mostrará novamente a página padrão.
Introduza a metáfora 'gado, não animais de estimação' (cattle vs. pets): containers devem ser descartáveis e recriáveis a qualquer momento. O que precisa sobreviver — dados de banco, datasets, modelos treinados, resultados — deve viver FORA do container. É o gancho para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
Volume: área gerenciada pelo Docker (em /var/lib/docker/volumes no Linux), criada por nome. É a forma recomendada para dados persistentes de bancos e serviços; independe da estrutura de pastas do host.
Bind mount: mapeia um caminho EXISTENTE do host para dentro do container. É o que a Atividade Final faz com -v "$(pwd)":/usr/share/nginx/html:ro — o NGINX passa a servir os arquivos do repositório pratica-docker. Editar index.html no host reflete na hora (o 'Experimente' do roteiro).
tmpfs: armazenamento só em memória, apagado quando o container para — útil para dados temporários ou sensíveis.
O sufixo :ro (read-only) aplica o princípio do menor privilégio: o container lê, mas não altera, os arquivos do host.
Atenção às aspas em $(pwd): caminhos com espaço (OneDrive, 'João Silva') quebram o comando sem 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Transição. Agora juntamos as peças: cada etapa do roteiro mapeada para um conceito, o ambiente em que o laboratório roda e por que containers são infraestrutura básica de projetos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Use esta tabela como guia de estudo: peça aos alunos que, durante o laboratório, anotem ao lado de cada passo o mecanismo envolvido. Essa anotação pode ser usada em uma discussão pós-laboratório.
Lembre as regras de entrega: três capturas (Evidências 1, 2 e 3) em um único PDF, enviado pelo Microsoft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O repositório traz um arquivo .devcontainer/devcontainer.json que o Codespaces usa para montar o ambiente: imagem base mcr.microsoft.com/devcontainers/base:ubuntu-24.04, a feature docker-in-docker (um daemon Docker rodando DENTRO do dev container) e o encaminhamento das portas 8080 e 8081.
Mostre as 'bonecas russas': nuvem do GitHub → VM do Codespace → dev container → daemon Docker → containers do roteiro. É uma ótima ilustração de que container é só um processo isolado — dá para aninhar.
O dev container precisa rodar como privileged para criar namespaces e cgroups internamente; em produção, --privileged deve ser evitado (dá ao container quase todos os poderes do host).
Se o Docker não subir: comando 'Codespaces: Rebuild Container'. A tag ubuntu-24.04 foi fixada porque a feature docker-in-docker ainda não tem pacotes para versões mais novas — mais um exemplo de por que fixar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Conecte com a disciplina: quase toda a pilha de Big Data que veremos pode ser executada em containers.
• Ambientes de análise reprodutíveis: Jupyter + Python com versões fixas, o mesmo para toda a turma.
• Processamento distribuído: master e workers do Spark como containers; em Kubernetes, o Spark cria pods executores sob demanda.
• Streaming: brokers de Kafka em containers para desenvolvimento local.
• Armazenamento: PostgreSQL, MongoDB e armazenamento de objetos compatível com S3 em containers — com VOLUMES para persistir os dados.
• Docker Compose descreve vários containers, redes e volumes em um arquivo YAML (tema de uma próxima prática).
• Kubernetes orquestra containers em cluster: agendamento, escala e autorrecuperação.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
Coluna esquerda: resumo da seção 7 do roteiro.
Coluna direita, com foco em governança de dados:
• Imagens guardam o histórico de todas as camadas: um segredo copiado e 'apagado' em uma camada posterior continua recuperável (docker history, inspeção das camadas). Segredos entram por variáveis de ambiente/secrets em tempo de execução.
• Publicar em um registry público uma imagem que contenha dataset com dados pessoais é, na prática, um vazamento — um incidente de segurança com dados pessoais nos termos da LGPD (Lei 13.709/2018), além de violar os princípios de necessidade e segurança.
• Rodar como usuário não-root, usar :ro e evitar --privileged reduzem o impacto de uma invasão.
• Varredura de vulnerabilidades (ex.: docker scout, Trivy) antes de publicar.
Discussão: 'Que dados do projeto de vocês NUNCA deveriam estar dentro de uma imagem?'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
Peça que um aluno diferente explique cada ideia com suas palavras, relacionando-a a um passo do roteiro. Em seguida, passe ao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 por slide.
Deixe 1 minuto para votação (mãos levantadas, Teams ou ferramenta de enquete) antes de avançar para as justificativas. Peça que quem escolheu cada alternativa errada explique o raciocínio — isso revela a concepção equivocada a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 por slide.
Deixe 1 minuto para votação (mãos levantadas, Teams ou ferramenta de enquete) antes de avançar para as justificativas. Peça que quem escolheu cada alternativa errada explique o raciocínio — isso revela a concepção equivocada a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 por slide.
Deixe 1 minuto para votação (mãos levantadas, Teams ou ferramenta de enquete) antes de avançar para as justificativas. Peça que quem escolheu cada alternativa errada explique o raciocínio — isso revela a concepção equivocada a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Q1 = B; Q2 = C.
Leia a justificativa da alternativa correta e, principalmente, POR QUE cada distrator está errado. Relacione cada questão ao passo do laboratório em que o conceito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Q3 = A; Q4 = D.
Leia a justificativa da alternativa correta e, principalmente, POR QUE cada distrator está errado. Relacione cada questão ao passo do laboratório em que o conceito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Q5 = D; Q6 = B.
Leia a justificativa da alternativa correta e, principalmente, POR QUE cada distrator está errado. Relacione cada questão ao passo do laboratório em que o conceito aparece.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Indique a documentação oficial como fonte primária. As man pages namespaces(7) e cgroups(7) são a referência técnica dos mecanismos do Bloco 02. O livro de Nigel Poulton é o mais didático para iniciantes.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e início da prática. Reforce: fazer os passos na ordem; limpar containers da seção 3 caso tenham sido testados (docker rm -f meu-nginx webserver ubuntu-server); capturar as evidências ANTES das etapas que as destroem (Evidência 1 antes do Passo 4; Evidência 2 antes do Passo 6; Evidência 3 antes da limpeza final).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PARA BIG DATA  ·  PRÁTICA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com Docker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teóricos para o laboratório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03-pratica-containers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 ·  Graduação em Ciência de Dados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74920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4447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33974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350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93029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2556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5235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476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4290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3817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3344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2871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5550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5078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4605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1413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659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3186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0509" y="292608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037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564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9091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8618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8145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80825" y="292608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0352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9879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9406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933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78461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6099" y="228600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5626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45153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4680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4208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3735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DA AULA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blocos, do problema à prática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containers?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 de ambientes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5636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4904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743200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o capô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274320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Namespaces, cgroups e OverlayFS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5636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5216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Docker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84632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daemon, runtime e OCI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4944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156362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5528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6949440" y="1993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e registries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6949440" y="2414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Camadas, tags e pull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0080" y="3200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3009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64592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3730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Executando containers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Modos, IDs e ciclo de vida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256032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2743200" y="3200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30098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7490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41" name="Text 32"/>
          <p:cNvSpPr txBox="1"/>
          <p:nvPr/>
        </p:nvSpPr>
        <p:spPr>
          <a:xfrm>
            <a:off x="2743200" y="3730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 armazenamento</a:t>
            </a:r>
            <a:endParaRPr lang="en-US" sz="1250" dirty="0"/>
          </a:p>
        </p:txBody>
      </p:sp>
      <p:sp>
        <p:nvSpPr>
          <p:cNvPr id="42" name="Text 33"/>
          <p:cNvSpPr txBox="1"/>
          <p:nvPr/>
        </p:nvSpPr>
        <p:spPr>
          <a:xfrm>
            <a:off x="2743200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e volumes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466344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846320" y="3200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300984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85216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7" name="Text 37"/>
          <p:cNvSpPr txBox="1"/>
          <p:nvPr/>
        </p:nvSpPr>
        <p:spPr>
          <a:xfrm>
            <a:off x="4846320" y="3730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lab ao Big Data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4846320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roteiro e boas práticas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676656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949440" y="3200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024" y="3300984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79552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53" name="Text 42"/>
          <p:cNvSpPr txBox="1"/>
          <p:nvPr/>
        </p:nvSpPr>
        <p:spPr>
          <a:xfrm>
            <a:off x="6949440" y="3730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50" dirty="0"/>
          </a:p>
        </p:txBody>
      </p:sp>
      <p:sp>
        <p:nvSpPr>
          <p:cNvPr id="54" name="Text 43"/>
          <p:cNvSpPr txBox="1"/>
          <p:nvPr/>
        </p:nvSpPr>
        <p:spPr>
          <a:xfrm>
            <a:off x="6949440" y="41513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questões com justificativas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da aula, você será capaz de…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07" y="1339047"/>
            <a:ext cx="266273" cy="2662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2344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que é um container e como ele difere de uma máquina virtual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892808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7" y="1997415"/>
            <a:ext cx="266273" cy="2662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189280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os mecanismos do kernel Linux que viabilizam containers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551176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7" y="2655783"/>
            <a:ext cx="266273" cy="26627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55117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imagem, container, registry, tag e digest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209544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07" y="3314151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20954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modo de execução adequado e gerenciar o ciclo de vida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57200" y="3867912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07" y="3972519"/>
            <a:ext cx="266273" cy="266273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8679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portas e persistir dados com volumes e bind mounts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943600" y="123444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esta aula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172200" y="18288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172200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N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6172200" y="224028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selo indica em qual etapa do roteiro 03-pratica-containers o conceito do slide será aplicado. Ao executar o comando no laboratório, volte a ele e identifique o mecanismo por trás.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containers?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da reprodutibilidade de ambientes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01 · O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“Funciona na minha máquina…”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377440" cy="2514600"/>
          </a:xfrm>
          <a:prstGeom prst="roundRect">
            <a:avLst>
              <a:gd name="adj" fmla="val 3077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89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90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do analista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1168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2.2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 3.5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17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24.04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566160" y="1234440"/>
            <a:ext cx="2377440" cy="2514600"/>
          </a:xfrm>
          <a:prstGeom prst="roundRect">
            <a:avLst>
              <a:gd name="adj" fmla="val 3077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9040" y="13898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14904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97680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de produção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794760" y="201168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1.3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 3.3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CentOS 7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944368" y="22402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23408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720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UnsupportedClassVersionError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583680" y="123444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766560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51790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6656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do container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766560" y="237744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Empacotar código + bibliotecas + runtime + configuração em uma unidade padronizada, que roda igual em qualquer host com um runtime compatível.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01 · CONTEXTO HISTÓRICO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não inventou o container — tornou-o fácil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7863840" cy="0"/>
          </a:xfrm>
          <a:prstGeom prst="line">
            <a:avLst/>
          </a:prstGeom>
          <a:noFill/>
          <a:ln w="25400">
            <a:solidFill>
              <a:srgbClr val="C9D4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832" y="2194560"/>
            <a:ext cx="274320" cy="274320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chroot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846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V7 isola o sistema de arquivos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13432" y="2194560"/>
            <a:ext cx="274320" cy="274320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288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FreeBSD Jails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8562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processos e rede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85032" y="2194560"/>
            <a:ext cx="274320" cy="274320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2004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cgroups + LXC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2278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recursos no kernel Linux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56632" y="2194560"/>
            <a:ext cx="274320" cy="274320"/>
          </a:xfrm>
          <a:prstGeom prst="ellipse">
            <a:avLst/>
          </a:prstGeom>
          <a:solidFill>
            <a:srgbClr val="E877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994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em camadas, Dockerfile e registry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28232" y="2194560"/>
            <a:ext cx="274320" cy="274320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9710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de containers em escala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99832" y="2194560"/>
            <a:ext cx="274320" cy="274320"/>
          </a:xfrm>
          <a:prstGeom prst="ellipse">
            <a:avLst/>
          </a:prstGeom>
          <a:solidFill>
            <a:srgbClr val="1F6F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0" y="1600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342632" y="2971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abertos de imagem e runtime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central: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isolamento vem do kernel Linux; o Docker entregou a experiência de empacotar, distribuir e executar.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01 · VIRTUALIZAÇÃO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 × container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322576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3225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convidado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755648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55648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755648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55648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55648" y="2322576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55648" y="23225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convidado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054096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54096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054096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54096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054096" y="2322576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54096" y="23225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convidado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2706624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270662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090672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309067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host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474720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4747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(hardware)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carrega um kernel e um SO completos.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846320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0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0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144768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44768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144768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144768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443216" y="155448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43216" y="155448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443216" y="1938528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443216" y="19385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/ libs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46320" y="2322576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846320" y="232257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(Docker Engine)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846320" y="2706624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846320" y="270662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host (kernel Linux compartilhado)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846320" y="3090672"/>
            <a:ext cx="3822192" cy="347472"/>
          </a:xfrm>
          <a:prstGeom prst="roundRect">
            <a:avLst>
              <a:gd name="adj" fmla="val 13158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846320" y="309067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(hardware)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48463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compartilham o kernel do host.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01 · COMPARAÇÃO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 práticas da diferença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virtual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completo (hypervisor)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de sistema operacional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 ou milissegundos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típico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GB (5–20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Centenas de MB ou menos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(SO próprio)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processo (namespaces + cgroups)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(overhead significativo)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(kernel compartilhado)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Dezenas por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Centenas por 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(formatos específicos)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(padrão OCI)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234440"/>
            <a:ext cx="2286000" cy="3063240"/>
          </a:xfrm>
          <a:prstGeom prst="roundRect">
            <a:avLst>
              <a:gd name="adj" fmla="val 3200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83680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15179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836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são rivais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583680" y="2331720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nuvem, containers quase sempre rodam dentro de VMs. O Codespaces do laboratório é exatamente isso: uma VM que executa um dev container com Docker.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o capô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container é um processo Linux isolado — e limitado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02 · ISOLAMENTO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Namespaces: o que o processo VÊ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146304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55960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processos própria: o app principal é o PID 1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46120" y="128016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0712" y="146304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273" y="155960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77640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410712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IP, portas e rotas próprias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128016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99632" y="146304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93" y="155960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766560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199632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montagem e sistema de arquivos próprios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26974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288036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3" y="297692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28803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próprio (root@a3f5b8c7e9d1)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246120" y="26974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410712" y="288036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273" y="2976921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977640" y="28803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3410712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 memória compartilhada isoladas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035040" y="2697480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199632" y="2880360"/>
            <a:ext cx="438912" cy="43891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193" y="2976921"/>
            <a:ext cx="245791" cy="24579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766560" y="28803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6199632" y="3410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o root do container para um usuário do host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no Passo 4: </a:t>
            </a:r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 hostname no prompt e rode </a:t>
            </a:r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/etc/hostname</a:t>
            </a:r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o short ID do container.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02 · LIMITES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cgroups: o que o processo pode USAR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44475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537289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4475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--cpus=1.5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46888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33472" y="144475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009" y="1537289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54680" y="144475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633472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--memory=2g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651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" y="281635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2908889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281635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de disco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--device-read-bps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468880" y="2651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633472" y="281635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009" y="2908889"/>
            <a:ext cx="235549" cy="23554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154680" y="281635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2633472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--pids-limit=200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572000" y="128016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736592" y="1389888"/>
            <a:ext cx="37856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etl 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--memory=2g --cpus=1.5 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--pids-limit=200 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python:3.12 python etl.py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 etl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0" y="30175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36592" y="318211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29" y="3274649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03520" y="31821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Estourou a memória?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736592" y="36576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kernel encerra o processo (OOM kill) e o container fica Exited (137). Sintoma clássico de job de dados mal dimensionado.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02 · SISTEMA DE ARQUIVOS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e copy-on-write (OverlayFS)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Passos 4 e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2344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unificada “/” vista pelo processo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709928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70992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gravável do container (RW)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185416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DCEBF7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1854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· configuração do nginx (RO)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660904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DCEBF7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609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· pacotes do nginx (RO)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13639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DCEBF7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1363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· base Debian (RO)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6393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nginx:1.27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983480" y="123444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017" y="1326977"/>
            <a:ext cx="235549" cy="23554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532120" y="1234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532120" y="1508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um arquivo da imagem copia-o para a camada RW; a imagem não muda.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983480" y="205740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17" y="2149937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32120" y="2057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Compartilhamento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53212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containers usam as mesmas camadas RO: menos disco, início rápido.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983480" y="28803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17" y="2972897"/>
            <a:ext cx="235549" cy="2355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53212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Descarte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53212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rm apaga a camada RW — e tudo o que foi gravado nela.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 =  </a:t>
            </a:r>
            <a:pPr algn="ctr" indent="0" marL="0">
              <a:buNone/>
            </a:pPr>
            <a:r>
              <a:rPr lang="en-US" sz="14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(isolamento)  +  </a:t>
            </a:r>
            <a:pPr algn="ctr" indent="0" marL="0">
              <a:buNone/>
            </a:pPr>
            <a:r>
              <a:rPr lang="en-US" sz="14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(limites)  +  </a:t>
            </a:r>
            <a:pPr algn="ctr" indent="0" marL="0">
              <a:buNone/>
            </a:pPr>
            <a:r>
              <a:rPr lang="en-US" sz="14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(sistema de arquivos)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Docker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daemon, runtime e padrões abertos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03 · COMPONENTES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comando ao processo isolado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Pré-requisitos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5636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CLI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2258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56232" y="1984248"/>
            <a:ext cx="288036" cy="0"/>
          </a:xfrm>
          <a:prstGeom prst="line">
            <a:avLst/>
          </a:prstGeom>
          <a:noFill/>
          <a:ln w="22225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171700" y="132588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289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15636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7170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2217420" y="2258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+ API REST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570732" y="1984248"/>
            <a:ext cx="288036" cy="0"/>
          </a:xfrm>
          <a:prstGeom prst="line">
            <a:avLst/>
          </a:prstGeom>
          <a:noFill/>
          <a:ln w="22225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886200" y="132588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434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6362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8620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3931920" y="2258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containers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285232" y="1984248"/>
            <a:ext cx="288036" cy="0"/>
          </a:xfrm>
          <a:prstGeom prst="line">
            <a:avLst/>
          </a:prstGeom>
          <a:noFill/>
          <a:ln w="22225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600700" y="132588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579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156362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60070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runc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5646420" y="2258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OCI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999732" y="1984248"/>
            <a:ext cx="288036" cy="0"/>
          </a:xfrm>
          <a:prstGeom prst="line">
            <a:avLst/>
          </a:prstGeom>
          <a:noFill/>
          <a:ln w="22225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315200" y="132588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7724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156362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315200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Linux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7360920" y="2258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+ cgroups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41732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docker.sock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2857500" y="2697480"/>
            <a:ext cx="0" cy="548640"/>
          </a:xfrm>
          <a:prstGeom prst="line">
            <a:avLst/>
          </a:prstGeom>
          <a:noFill/>
          <a:ln w="22225">
            <a:solidFill>
              <a:srgbClr val="E8772E"/>
            </a:solidFill>
            <a:prstDash val="solid"/>
            <a:headEnd type="triangle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1805940" y="32918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943100" y="34747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3684" y="3575304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4917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2491740" y="36758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· pull / push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448056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daemon gerencia: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480560" y="3429000"/>
            <a:ext cx="978408" cy="731520"/>
          </a:xfrm>
          <a:prstGeom prst="roundRect">
            <a:avLst>
              <a:gd name="adj" fmla="val 10000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782312" y="3493008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2779" y="3573475"/>
            <a:ext cx="204826" cy="204826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4480560" y="38862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5550408" y="3429000"/>
            <a:ext cx="978408" cy="731520"/>
          </a:xfrm>
          <a:prstGeom prst="roundRect">
            <a:avLst>
              <a:gd name="adj" fmla="val 10000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5852160" y="3493008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627" y="3573475"/>
            <a:ext cx="204826" cy="204826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550408" y="38862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6620256" y="3429000"/>
            <a:ext cx="978408" cy="731520"/>
          </a:xfrm>
          <a:prstGeom prst="roundRect">
            <a:avLst>
              <a:gd name="adj" fmla="val 10000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922008" y="3493008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475" y="3573475"/>
            <a:ext cx="204826" cy="204826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6620256" y="38862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7690104" y="3429000"/>
            <a:ext cx="978408" cy="731520"/>
          </a:xfrm>
          <a:prstGeom prst="roundRect">
            <a:avLst>
              <a:gd name="adj" fmla="val 10000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7991856" y="3493008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2323" y="3573475"/>
            <a:ext cx="204826" cy="204826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7690104" y="3886200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03 · PADRONIZAÇÃO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OCI: padrões abertos para imagens e runtimes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Spec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 imagem: manifesto, configuração e camadas empilháveis.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4612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9000" y="14630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42" y="157368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Spec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executar um container a partir de um bundle. Referência: runc.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14630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562" y="157368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Spec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450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HTTP dos registries para push e pull de imagens.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mesma imagem OCI roda em: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847088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847088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36976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236976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626864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626864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CRI-O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016752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016752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406640" y="37947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06640" y="3794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nuvem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e registries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Camadas, nomes, tags e o que acontece em um pull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04 · CONCEITO CENTRAL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× 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41732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1488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somente leitura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camadas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 por nome:tag e digest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Armazenada em um registry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a classe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12080" y="123444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40680" y="141732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81" y="1538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440680" y="21488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de uma imagem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gravável + processo + rede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 por ID e nome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ciclo de vida (Up, Exited…)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objeto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023360" y="2651760"/>
            <a:ext cx="1097280" cy="0"/>
          </a:xfrm>
          <a:prstGeom prst="line">
            <a:avLst/>
          </a:prstGeom>
          <a:noFill/>
          <a:ln w="317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393192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imagem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containers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04 · NOMENCLATURA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 nome de uma imagem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docker.io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13258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2331720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imagens (padrão: Docker Hub)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12848" y="132588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1284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13258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21284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231136" y="233172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ou organização; library = imagens oficiais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94176" y="13258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94176" y="13258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837176" y="13258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694176" y="2057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712464" y="2331720"/>
            <a:ext cx="1106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aplicação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38344" y="132588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38344" y="1325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952744" y="132588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038344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056632" y="2331720"/>
            <a:ext cx="877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— rótulo mutável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53912" y="132588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53912" y="1325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sha256:9f3a…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153912" y="2057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233172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do conteúdo — imutável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324612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1792" y="3355848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7F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que você digita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nginx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7F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que o Docker entende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docker.io/library/nginx:latest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40" y="32461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46320" y="32918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≠ mais recente. 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só a tag padrão. Fixe versões (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que o pipeline se comporte igual hoje e daqui a seis meses.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04 · NA PRÁTICA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em “docker run hello-world”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1389888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7160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137" y="1482425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" y="192024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envia a requisição ao daemon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956816" y="2075688"/>
            <a:ext cx="169164" cy="0"/>
          </a:xfrm>
          <a:prstGeom prst="line">
            <a:avLst/>
          </a:prstGeom>
          <a:noFill/>
          <a:ln w="19050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144268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81428" y="1389888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8142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058668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05" y="1482425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281428" y="192024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procura a imagem localmente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43884" y="2075688"/>
            <a:ext cx="169164" cy="0"/>
          </a:xfrm>
          <a:prstGeom prst="line">
            <a:avLst/>
          </a:prstGeom>
          <a:noFill/>
          <a:ln w="19050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831336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968496" y="1389888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968496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745736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273" y="1482425"/>
            <a:ext cx="235549" cy="23554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968496" y="192024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achou: faz pull do Docker Hub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330952" y="2075688"/>
            <a:ext cx="169164" cy="0"/>
          </a:xfrm>
          <a:prstGeom prst="line">
            <a:avLst/>
          </a:prstGeom>
          <a:noFill/>
          <a:ln w="19050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5518404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655564" y="1389888"/>
            <a:ext cx="347472" cy="347472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65556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432804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341" y="1482425"/>
            <a:ext cx="235549" cy="235549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655564" y="192024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container e inicia o processo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018020" y="2075688"/>
            <a:ext cx="169164" cy="0"/>
          </a:xfrm>
          <a:prstGeom prst="line">
            <a:avLst/>
          </a:prstGeom>
          <a:noFill/>
          <a:ln w="19050">
            <a:solidFill>
              <a:srgbClr val="5E6E7E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7205472" y="128016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342632" y="1389888"/>
            <a:ext cx="347472" cy="347472"/>
          </a:xfrm>
          <a:prstGeom prst="ellipse">
            <a:avLst/>
          </a:prstGeom>
          <a:solidFill>
            <a:srgbClr val="E87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342632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119872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409" y="1482425"/>
            <a:ext cx="235549" cy="235549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342632" y="192024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imprime e termina: Exited (0)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457200" y="31089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621792" y="3218688"/>
            <a:ext cx="79004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      STATUS                     NAMES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abc123def456   hello-world   Exited (0) 2 minutes ago   reverent_morse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04 · ALÉM DO LAB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as imagens? O Dockerfile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389888"/>
            <a:ext cx="36027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7F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nginx:1.27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site/ /usr/share/nginx/html/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["nginx", "-g", "daemon off;"]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918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imagem base (camadas herdadas)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nova camada com os arquivos do site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 a porta (não publica!)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processo principal do container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8461" y="1400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212080" y="1856232"/>
            <a:ext cx="0" cy="219456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39496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37760" y="210312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2238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2356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212080" y="2679192"/>
            <a:ext cx="0" cy="219456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5394960" y="2633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29260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61" y="30467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212080" y="3502152"/>
            <a:ext cx="0" cy="219456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539496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37760" y="37490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8697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2356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Executando containers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Identificação, modos de execução e ciclo de vida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05 · IDENTIFICAÇÃO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formas de referenciar um 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453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completo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17007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caracteres hexadecimais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103120"/>
            <a:ext cx="22402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a3f5b8c7e9d1f2a4b6c8…e8f0a2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na criação; raramente digitado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4612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2900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4533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02336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ID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023360" y="17007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primeiros caracteres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429000" y="2103120"/>
            <a:ext cx="22402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2900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a3f5b8c7e9d1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342900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Exibido por docker ps; igual ao hostname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03504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1792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4533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1228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812280" y="17007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Legível e único no host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217920" y="2103120"/>
            <a:ext cx="22402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21792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 · romantic_fermi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6217920" y="26334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--name ou gerado automaticamente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57200" y="352044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21792" y="3630168"/>
            <a:ext cx="4517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a3f5b8c7e9d1   # short 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webserver      # nome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486400" y="35204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62356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é único: 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reutilizá-lo gera “Conflict… already in use”. Remova o antigo com 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-f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05 · MODOS DE EXECUÇÃO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Interativo, detached e exec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Passos 2 e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453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1444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Interativo  -it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20574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ubuntu bash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26517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conectado ao processo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exploração, shells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encerra o processo → container para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7472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5453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69080" y="1444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Detached  -d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474720" y="20574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5204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nginx:1.27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3474720" y="26517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em segundo plano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Serviços: web, bancos, APIs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consultada com docker logs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128016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54533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49440" y="1444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0" y="2057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um segundo processo dentro de um container que já está rodando. Ao sair, apenas esse processo termina — o serviço continua no ar.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640080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webserver bash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05 · REGRA DE OURO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vive enquanto seu processo principal vive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hello-world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a mensagem e sai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77440" y="1536192"/>
            <a:ext cx="731520" cy="384048"/>
          </a:xfrm>
          <a:prstGeom prst="roundRect">
            <a:avLst>
              <a:gd name="adj" fmla="val 11905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536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(0)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nginx:1.27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-g 'daemon off;' em primeiro plano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77440" y="219456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2194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sleep infinity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que nunca termina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377440" y="2852928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60720" y="2852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(sem -it)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sem terminal sai imediatamente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377440" y="3511296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26080" y="35112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(0)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128016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14447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1545336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5836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Parou sozinho?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583680" y="23774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&lt;nome&gt;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saída do processo.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saída: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sucesso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 SIGKILL / 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  SIGTERM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05 · CICLO DE VIDA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transições de um 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Passos 3, 5 e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08960" y="214884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(Up)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14884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08960" y="37033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35240" y="2148840"/>
            <a:ext cx="1051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21488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Removido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0" y="2468880"/>
            <a:ext cx="1097280" cy="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011680" y="2176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331720"/>
            <a:ext cx="1097280" cy="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457200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· kill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 flipH="1">
            <a:off x="4663440" y="2633472"/>
            <a:ext cx="1097280" cy="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466344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0" y="2468880"/>
            <a:ext cx="3200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7269480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703320" y="2788920"/>
            <a:ext cx="0" cy="91440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834640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 flipV="1">
            <a:off x="4069080" y="2788920"/>
            <a:ext cx="0" cy="91440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416052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unpause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1783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create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234440" y="2011680"/>
            <a:ext cx="0" cy="137160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4572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create + start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76072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restart</a:t>
            </a:r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stop + start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7607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-f</a:t>
            </a:r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kill + rm (em execução)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760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container prune</a:t>
            </a:r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 todos os parados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7607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≠ apagado: a camada gravável e os logs continuam lá até o docker rm.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05 · SINAIS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stop × docker kill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13258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888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39312" y="132588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9312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graça (10 s): fecha conexões, grava buffers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78624" y="13258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8624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SIGKILL*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468880" y="1856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só se o processo ainda estiver vivo ao fim do prazo · ajuste com docker stop -t 30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kill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468880" y="242316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68880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39312" y="2423160"/>
            <a:ext cx="4992624" cy="457200"/>
          </a:xfrm>
          <a:prstGeom prst="roundRect">
            <a:avLst>
              <a:gd name="adj" fmla="val 10000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39312" y="242316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imediato — sem chance de limpeza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2953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“puxar o cabo de energia” do processo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um kill custa caro: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37" y="3887297"/>
            <a:ext cx="235549" cy="23554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87552" y="3767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de dados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987552" y="4005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transações e buffers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246120" y="37947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57" y="3887297"/>
            <a:ext cx="235549" cy="235549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776472" y="3767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de streaming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776472" y="4005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 e offsets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035040" y="379476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577" y="3887297"/>
            <a:ext cx="235549" cy="235549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565392" y="3767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de escrita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565392" y="4005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Parquet parciais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 armazenamento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mundo chega ao container — e como os dados sobrevivem a ele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06 · REDE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de portas: -p HOST:CONTAINER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 2 e Final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5568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517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computador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86000" y="1920240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606040" y="13258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64408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3304D"/>
          </a:solidFill>
          <a:ln w="12700">
            <a:solidFill>
              <a:srgbClr val="13304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179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0604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 :8080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60604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/ Codespace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34840" y="1920240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754880" y="13258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13248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51790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5488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docker0 (NAT)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75488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bridge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583680" y="1920240"/>
            <a:ext cx="274320" cy="0"/>
          </a:xfrm>
          <a:prstGeom prst="line">
            <a:avLst/>
          </a:prstGeom>
          <a:noFill/>
          <a:ln w="25400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903720" y="13258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62088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51790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0372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 :80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90372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172.17.0.2 · nginx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57200" y="27432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</a:t>
            </a:r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ctr" indent="0" marL="0">
              <a:buNone/>
            </a:pPr>
            <a:r>
              <a:rPr lang="en-US" sz="200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251460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pPr indent="0" marL="0">
              <a:buNone/>
            </a:pPr>
            <a:r>
              <a:rPr lang="en-US" sz="12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porta no host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pPr indent="0" marL="0">
              <a:buNone/>
            </a:pPr>
            <a:r>
              <a:rPr lang="en-US" sz="12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porta no container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663440" y="27432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846320" y="2743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“port is already allocated”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do host já em uso. Por isso a Atividade Final usa 8081:80.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Codespaces: 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https://&lt;codespace&gt;-8081.app.github.dev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porta 8081 da VM. Porta privada pede login; torne-a </a:t>
            </a:r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aba PORTS.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06 · EFEMERIDADE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foi parar a página que eu alterei?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Passos 4 e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50985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14173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… echo &gt; index.html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vai para a camada RW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395728" y="2240280"/>
            <a:ext cx="146304" cy="0"/>
          </a:xfrm>
          <a:prstGeom prst="line">
            <a:avLst/>
          </a:prstGeom>
          <a:noFill/>
          <a:ln w="22225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56032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4320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737" y="1509857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91840" y="14173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74320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/ start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2743200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continua lá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498848" y="2240280"/>
            <a:ext cx="146304" cy="0"/>
          </a:xfrm>
          <a:prstGeom prst="line">
            <a:avLst/>
          </a:prstGeom>
          <a:noFill/>
          <a:ln w="22225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466344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4632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57" y="1509857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94960" y="14173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6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84632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-f webserver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4846320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RW descartada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601968" y="2240280"/>
            <a:ext cx="146304" cy="0"/>
          </a:xfrm>
          <a:prstGeom prst="line">
            <a:avLst/>
          </a:prstGeom>
          <a:noFill/>
          <a:ln w="22225">
            <a:solidFill>
              <a:srgbClr val="0B1F33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6766560" y="128016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949440" y="1417320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5E6E7E"/>
          </a:solidFill>
          <a:ln w="12700">
            <a:solidFill>
              <a:srgbClr val="5E6E7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977" y="1509857"/>
            <a:ext cx="235549" cy="23554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498080" y="14173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run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949440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… nginx:1.27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49440" y="2560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padrão de novo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0080" y="36118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3736604"/>
            <a:ext cx="317480" cy="31748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371600" y="3474720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são descartáveis (“gado, não animais de estimação”). </a:t>
            </a:r>
            <a:pPr indent="0" marL="0">
              <a:buNone/>
            </a:pPr>
            <a:r>
              <a:rPr lang="en-US" sz="13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precisa sobreviver — bancos, datasets, modelos, resultados — deve viver fora do container.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06 · ARMAZENAMENTO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Volumes, bind mounts e tmpfs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Atividade Final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179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94360" y="201168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dados-pg: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/var/lib/postgresql/data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26974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 pelo Docker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bancos e serviços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 das pastas do host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246120" y="12801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CE7D8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29000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179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233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mount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383280" y="201168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47472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"$(pwd)":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/usr/share/nginx/html:ro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3429000" y="26974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uma pasta do host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Desenvolvimento: edita e vê na hora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na Atividade Final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035040" y="12801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1417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179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122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tmpfs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172200" y="201168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6364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--tmpfs /tmp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6217920" y="26974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em memória RAM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temporários ou sensíveis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quando o container para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</a:t>
            </a:r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somente leitura. O container lê, mas não altera, os arquivos do host — princípio do menor privilégio.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lab ao Big Data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roteiro, ambiente de execução e boas práticas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118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96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2074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6552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0300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301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779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257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735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2132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324612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484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2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440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918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964" y="3328416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923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357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8356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715768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106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584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062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540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00188" y="2798064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185416"/>
            <a:ext cx="868680" cy="457200"/>
          </a:xfrm>
          <a:prstGeom prst="roundRect">
            <a:avLst>
              <a:gd name="adj" fmla="val 8000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2729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207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685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163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6412" y="2267712"/>
            <a:ext cx="0" cy="292608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07 · MAPA DO ROTEIRO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passo do laboratório, um conceito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06908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 da aula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Pré-requisitos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version · docker info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 cliente-servidor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run hello-world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Pull, imagem × container, PID 1 → Exited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2 · Evid.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run -d --name webserver -p 8080:80 nginx:1.27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Detached, port mapping, tag fixa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ps -a · --format · -f status=exited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e estados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4 · Evid.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exec -it webserver bash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Namespaces, camada gravável (CoW)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stop · start · restart · pause · kill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de vida, SIGTERM × SIGKILL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rm -f · docker container prune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Efemeridade e limpeza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· Evid.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-v "$(pwd)":/usr/share/nginx/html:ro -p 8081:80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mount read-only, nova 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07 · AMBIENTE DO LAB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dentro de 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30175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01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Pré-requisitos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F2F5F9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80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do GitHub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600200"/>
            <a:ext cx="4297680" cy="2697480"/>
          </a:xfrm>
          <a:prstGeom prst="roundRect">
            <a:avLst>
              <a:gd name="adj" fmla="val 2034"/>
            </a:avLst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do Codespace (Linux)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196596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DDF0F0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2011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container · ubuntu-24.04 · privileged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43000" y="2331720"/>
            <a:ext cx="33832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0160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 (docker-in-docker)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0" y="27889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7160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nginx:1.27 :8080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44368" y="278892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94436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meuweb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2944368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nginx:1.27 :8081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40680" y="1234440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05272" y="1344168"/>
            <a:ext cx="291693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.devcontainer/devcontainer.json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"image": "…/base:ubuntu-24.04",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"privileged": true,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"features": {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"…/docker-in-docker:2": {…}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"forwardPorts": [8080, 8081]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40680" y="32461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7784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não respondeu? 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</a:t>
            </a:r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Codespaces: Rebuild Container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Evite 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--privileged</a:t>
            </a:r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fora de ambientes de laboratório.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07 · APLICAÇÃO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como base da infraestrutura de dados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636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reprodutíveis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029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e Python com versões fixas, iguais para toda a equipe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128016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900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5636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233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distribuído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029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 workers do Spark como containers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28016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14630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6362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1228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029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de Kafka para desenvolvimento local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283464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3017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344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Bancos e objetos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3584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MongoDB, storage S3 — com volumes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246120" y="283464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429000" y="3017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11810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0233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3429000" y="3584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serviços, redes e volumes em um YAML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035040" y="283464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CE7D8"/>
          </a:solidFill>
          <a:ln w="12700">
            <a:solidFill>
              <a:srgbClr val="FCE7D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217920" y="3017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118104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8122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217920" y="3584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em cluster: escala e autorrecuperação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laranja: próximos passos da disciplina.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07 · BOAS PRÁTICAS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práticas, segurança e LGPD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6596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versões: nginx:1.27, não latest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nomes descritivos (--name api-backend)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persistentes em volumes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imagens oficiais ou verificadas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 e poucas camadas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 periodicamente (docker system prune)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371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4721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LGPD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196596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embuta senhas ou tokens: camadas guardam histórico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publique imagens com dados pessoais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como usuário não-root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privilégio: :ro, evite --privileged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vulnerabilidades antes de publicar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ideias para levar ao laboratório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é um processo isolado que compartilha o kernel do host.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isolam, cgroups limitam, camadas empacotam.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é o molde imutável; container é a instância com camada gravável.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vive enquanto seu processo principal (PID 1) vive.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HOST:CONTAINER leva o tráfego do host até o container.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importam vivem fora: volumes e bind mounts.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PARTE 1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1 e 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container costuma iniciar em segundos, enquanto uma VM leva minutos?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container usa hardware dedicado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compartilha o kernel do host e não inicializa um SO completo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imagens de container sempre têm menos de 10 MB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Docker mantém os containers pré-carregados na RAM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mecanismo do kernel impede que um container consuma toda a memória do host?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8348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9204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8348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OverlayFS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89204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8348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9204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8348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3035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PARTE 2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3 e 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alterar index.html via docker exec (Passo 4), você executa docker rm -f webserver e cria um novo container de nginx:1.27. O que aparece no navegador?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padrão do NGINX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modificada, pois foi salva na imagem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404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o container ter sido parado com stop ou kill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docker run -d -p 8081:80 nginx:1.27, o número 8081 representa: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8348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em que o NGINX escuta dentro do container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9204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8348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da API do Docker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89204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8348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de conexões simultâneas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9204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8348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3035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do host encaminhada para a porta 80 do container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PARTE 3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5 e 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comando é o mais adequado para encerrar um container de banco de dados sem risco de corromper arquivos?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kill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rm -f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pause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stop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1298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12984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Atividade Final, o que garante o sufixo :ro em -v "$(pwd)":/usr/share/nginx/html:ro?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224028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8348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container só seja acessível na rede local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92040" y="27889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83480" y="2788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NGINX não consiga alterar os arquivos da pasta do host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892040" y="333756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83480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33375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alterações feitas no host não apareçam no container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92040" y="38862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8348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3035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pasta seja apagada junto com o container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RESPOSTAS 1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comentado: questões 1 e 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016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697" y="148242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Porque compartilha o kernel do host e não inicializa um SO completo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hardware dedicado: containers compartilham os recursos do host.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acelera o download, não a inicialização; há imagens de vários GB.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pré-carregado: iniciar = criar namespaces/cgroups e disparar o processo.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9204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4068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3212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657" y="1482425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cgroups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isolam o que o processo VÊ, não o quanto ele USA.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93776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OverlayFS trata de camadas do sistema de arquivos.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é um recurso de rede.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RESPOSTAS 2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comentado: questões 3 e 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016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697" y="148242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página padrão do NGINX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alteração ficou na camada gravável; a imagem é somente leitura.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index.html da imagem continua existindo.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parada não persiste nada; o que apaga é o rm.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9204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4068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3212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657" y="1482425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porta do host encaminhada para a porta 80 do container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interna é a 80 — segundo número (HOST:CONTAINER).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93776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não tem relação com a API do Docker.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não define limites de conexão.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RESPOSTAS 3 DE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comentado: questões 5 e 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016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697" y="148242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docker stop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SIGKILL imediato: sem chance de gravar buffers.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kill + remoção: o pior dos dois mundos.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congela os processos; nada é encerrado.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9204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40680" y="1280160"/>
            <a:ext cx="3063240" cy="658368"/>
          </a:xfrm>
          <a:prstGeom prst="roundRect">
            <a:avLst>
              <a:gd name="adj" fmla="val 8333"/>
            </a:avLst>
          </a:prstGeom>
          <a:solidFill>
            <a:srgbClr val="DFF1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32120" y="1389888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657" y="1482425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35040" y="12801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Que o NGINX não consiga alterar os arquivos da pasta do host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 não tem relação com rede.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93776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Falso: editar no host reflete na hora (o “Experimente” do roteiro).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Docker nunca apaga a pasta de origem de um bind mount.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APROFUNDAR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com Docker · Infraestrutura para Big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3908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oficial do Docker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" y="1536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 — conceitos, CLI e Dockerfile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12801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13908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1808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Especificações OCI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321808" y="1536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opencontainers.org — image, runtime e distribution specs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1945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230520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15568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man pages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115568" y="24505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namespaces(7) e cgroups(7) — man7.org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663440" y="21945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82" y="230520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21808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Livros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321808" y="24505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POULTON, N. Docker Deep Dive · NICKOLOFF, J. Docker in Action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57200" y="31089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" y="3219602"/>
            <a:ext cx="281635" cy="28163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15568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Codespaces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1115568" y="33649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docs.github.com/codespaces — dev containers e portas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663440" y="310896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082" y="3219602"/>
            <a:ext cx="281635" cy="28163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21808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da prática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321808" y="33649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github.com/fatec-cd/03-pratica-containers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recursos: </a:t>
            </a:r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seção 8 do roteiro (Referências e Recursos) reúne tutoriais, ferramentas (Portainer, Dive, Hadolint) e canais em português.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COM VOCÊS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Mãos à obra!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github.com/fatec-cd/03-pratica-containers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pPr indent="0" marL="0">
              <a:buNone/>
            </a:pPr>
            <a:r>
              <a:rPr lang="en-US" sz="13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PDF com as Evidências 1, 2 e 3, na ordem, enviado pelo Microsoft Teams.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3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executar cada passo, identifique o mecanismo da aula que está em 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4920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4447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33974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350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93029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2556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5235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476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4290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3817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3344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2871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5550" y="356616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A8C8C"/>
          </a:solidFill>
          <a:ln w="12700">
            <a:solidFill>
              <a:srgbClr val="1A8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5078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4605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14132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3659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3186" y="366820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0509" y="292608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037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564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9091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8618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8145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80825" y="292608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0352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9879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9406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933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78461" y="302812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6099" y="2286000"/>
            <a:ext cx="1077163" cy="566928"/>
          </a:xfrm>
          <a:prstGeom prst="roundRect">
            <a:avLst>
              <a:gd name="adj" fmla="val 6452"/>
            </a:avLst>
          </a:prstGeom>
          <a:solidFill>
            <a:srgbClr val="B9D3EA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5626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45153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4680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4208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3735" y="2388047"/>
            <a:ext cx="0" cy="362834"/>
          </a:xfrm>
          <a:prstGeom prst="line">
            <a:avLst/>
          </a:prstGeom>
          <a:noFill/>
          <a:ln w="9525">
            <a:solidFill>
              <a:srgbClr val="0B1F33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0CB74C067CF98459F082A1AF7276EA0" ma:contentTypeVersion="0" ma:contentTypeDescription="Crie um novo documento." ma:contentTypeScope="" ma:versionID="5f98fce776c6bdde4143bf8e896cbb4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889099-ACC6-4524-B9DF-B26FBA71716D}"/>
</file>

<file path=customXml/itemProps2.xml><?xml version="1.0" encoding="utf-8"?>
<ds:datastoreItem xmlns:ds="http://schemas.openxmlformats.org/officeDocument/2006/customXml" ds:itemID="{E2CEE960-8543-463A-BC00-0C923FA09C37}"/>
</file>

<file path=customXml/itemProps3.xml><?xml version="1.0" encoding="utf-8"?>
<ds:datastoreItem xmlns:ds="http://schemas.openxmlformats.org/officeDocument/2006/customXml" ds:itemID="{28033038-C5DF-46D2-B8F2-5C966DF605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Containers com Docker — fundamentos para o laboratório</dc:title>
  <dc:subject>PptxGenJS Presentation</dc:subject>
  <dc:creator>Prof. Claudio</dc:creator>
  <cp:lastModifiedBy>Prof. Claudio</cp:lastModifiedBy>
  <cp:revision>1</cp:revision>
  <dcterms:created xsi:type="dcterms:W3CDTF">2026-09-25T02:21:55Z</dcterms:created>
  <dcterms:modified xsi:type="dcterms:W3CDTF">2026-09-25T02:21:55Z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0x01010060CB74C067CF98459F082A1AF7276EA0</vt:lpwstr>
  </property>
</Properties>
</file>